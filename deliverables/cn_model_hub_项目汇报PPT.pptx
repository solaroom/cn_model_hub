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51cab0943c42c4" /><Relationship Type="http://schemas.openxmlformats.org/officeDocument/2006/relationships/extended-properties" Target="/docProps/app.xml" Id="R1e69f666ac824c1c" /><Relationship Type="http://schemas.openxmlformats.org/officeDocument/2006/relationships/officeDocument" Target="/ppt/presentation.xml" Id="R19088f740b0d42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f70247d5074157"/>
  </p:sldMasterIdLst>
  <p:notesMasterIdLst>
    <p:notesMasterId xmlns:r="http://schemas.openxmlformats.org/officeDocument/2006/relationships" r:id="R8457d371808a4241"/>
  </p:notesMasterIdLst>
  <p:sldIdLst>
    <p:sldId xmlns:r="http://schemas.openxmlformats.org/officeDocument/2006/relationships" id="256" r:id="R32d24fd3a26c4d2c"/>
    <p:sldId xmlns:r="http://schemas.openxmlformats.org/officeDocument/2006/relationships" id="257" r:id="R508a5b1f30634181"/>
    <p:sldId xmlns:r="http://schemas.openxmlformats.org/officeDocument/2006/relationships" id="258" r:id="R524d7a50753e4282"/>
    <p:sldId xmlns:r="http://schemas.openxmlformats.org/officeDocument/2006/relationships" id="259" r:id="R19eff181e1874d32"/>
    <p:sldId xmlns:r="http://schemas.openxmlformats.org/officeDocument/2006/relationships" id="260" r:id="Re99c4f995c7f4708"/>
    <p:sldId xmlns:r="http://schemas.openxmlformats.org/officeDocument/2006/relationships" id="261" r:id="Rf997304801b642b1"/>
    <p:sldId xmlns:r="http://schemas.openxmlformats.org/officeDocument/2006/relationships" id="262" r:id="Rfada1ae248404d71"/>
    <p:sldId xmlns:r="http://schemas.openxmlformats.org/officeDocument/2006/relationships" id="263" r:id="R262fd9f1b2cc48ba"/>
    <p:sldId xmlns:r="http://schemas.openxmlformats.org/officeDocument/2006/relationships" id="264" r:id="R9636b13d064145bd"/>
    <p:sldId xmlns:r="http://schemas.openxmlformats.org/officeDocument/2006/relationships" id="265" r:id="R81112de2806a4a2a"/>
    <p:sldId xmlns:r="http://schemas.openxmlformats.org/officeDocument/2006/relationships" id="266" r:id="R6738fd791b4f45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681a2b2bb4422f" /><Relationship Type="http://schemas.openxmlformats.org/officeDocument/2006/relationships/slideMaster" Target="/ppt/slideMasters/slideMaster1.xml" Id="Raef70247d5074157" /><Relationship Type="http://schemas.openxmlformats.org/officeDocument/2006/relationships/notesMaster" Target="/ppt/notesMasters/notesMaster1.xml" Id="R8457d371808a4241" /><Relationship Type="http://schemas.openxmlformats.org/officeDocument/2006/relationships/presProps" Target="/ppt/presProps.xml" Id="Rb5f031339fdf4c49" /><Relationship Type="http://schemas.openxmlformats.org/officeDocument/2006/relationships/tableStyles" Target="/ppt/tableStyles.xml" Id="R7e632299a9714722" /><Relationship Type="http://schemas.openxmlformats.org/officeDocument/2006/relationships/slide" Target="/ppt/slides/slide1.xml" Id="R32d24fd3a26c4d2c" /><Relationship Type="http://schemas.openxmlformats.org/officeDocument/2006/relationships/slide" Target="/ppt/slides/slide2.xml" Id="R508a5b1f30634181" /><Relationship Type="http://schemas.openxmlformats.org/officeDocument/2006/relationships/slide" Target="/ppt/slides/slide3.xml" Id="R524d7a50753e4282" /><Relationship Type="http://schemas.openxmlformats.org/officeDocument/2006/relationships/slide" Target="/ppt/slides/slide4.xml" Id="R19eff181e1874d32" /><Relationship Type="http://schemas.openxmlformats.org/officeDocument/2006/relationships/slide" Target="/ppt/slides/slide5.xml" Id="Re99c4f995c7f4708" /><Relationship Type="http://schemas.openxmlformats.org/officeDocument/2006/relationships/slide" Target="/ppt/slides/slide6.xml" Id="Rf997304801b642b1" /><Relationship Type="http://schemas.openxmlformats.org/officeDocument/2006/relationships/slide" Target="/ppt/slides/slide7.xml" Id="Rfada1ae248404d71" /><Relationship Type="http://schemas.openxmlformats.org/officeDocument/2006/relationships/slide" Target="/ppt/slides/slide8.xml" Id="R262fd9f1b2cc48ba" /><Relationship Type="http://schemas.openxmlformats.org/officeDocument/2006/relationships/slide" Target="/ppt/slides/slide9.xml" Id="R9636b13d064145bd" /><Relationship Type="http://schemas.openxmlformats.org/officeDocument/2006/relationships/slide" Target="/ppt/slides/slide10.xml" Id="R81112de2806a4a2a" /><Relationship Type="http://schemas.openxmlformats.org/officeDocument/2006/relationships/slide" Target="/ppt/slides/slide11.xml" Id="R6738fd791b4f45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1e196c290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3e3c5610ce4e82" /><Relationship Type="http://schemas.openxmlformats.org/officeDocument/2006/relationships/notesMaster" Target="/ppt/notesMasters/notesMaster1.xml" Id="R5f7dbee1f889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92a5db3a4f44ff" /><Relationship Type="http://schemas.openxmlformats.org/officeDocument/2006/relationships/notesMaster" Target="/ppt/notesMasters/notesMaster1.xml" Id="Rc5ce3a26949543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8b68c414248ca" /><Relationship Type="http://schemas.openxmlformats.org/officeDocument/2006/relationships/notesMaster" Target="/ppt/notesMasters/notesMaster1.xml" Id="Re01033c715974a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c6b93526134b56" /><Relationship Type="http://schemas.openxmlformats.org/officeDocument/2006/relationships/notesMaster" Target="/ppt/notesMasters/notesMaster1.xml" Id="Rf77d160c51e747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49e742a6804bd3" /><Relationship Type="http://schemas.openxmlformats.org/officeDocument/2006/relationships/notesMaster" Target="/ppt/notesMasters/notesMaster1.xml" Id="Re7661e36a0d948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8561417d324696" /><Relationship Type="http://schemas.openxmlformats.org/officeDocument/2006/relationships/notesMaster" Target="/ppt/notesMasters/notesMaster1.xml" Id="Rb1adfc29fc1a4e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a60be687374177" /><Relationship Type="http://schemas.openxmlformats.org/officeDocument/2006/relationships/notesMaster" Target="/ppt/notesMasters/notesMaster1.xml" Id="Rbed07396b60143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bfbdc39ed34cfc" /><Relationship Type="http://schemas.openxmlformats.org/officeDocument/2006/relationships/notesMaster" Target="/ppt/notesMasters/notesMaster1.xml" Id="R2c9859fb873b47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bf1e717be14a11" /><Relationship Type="http://schemas.openxmlformats.org/officeDocument/2006/relationships/notesMaster" Target="/ppt/notesMasters/notesMaster1.xml" Id="R1e7acc132cb240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145a8197af4e45" /><Relationship Type="http://schemas.openxmlformats.org/officeDocument/2006/relationships/notesMaster" Target="/ppt/notesMasters/notesMaster1.xml" Id="R19923645374e47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b1d971cc00466b" /><Relationship Type="http://schemas.openxmlformats.org/officeDocument/2006/relationships/notesMaster" Target="/ppt/notesMasters/notesMaster1.xml" Id="R3f1384994f0843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3984750444c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57cbb762bf4818" /><Relationship Type="http://schemas.openxmlformats.org/officeDocument/2006/relationships/slideLayout" Target="/ppt/slideLayouts/slideLayout1.xml" Id="R0c2a2ebf62de4e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a2ebf62de4e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b086ece5f74f46" /><Relationship Type="http://schemas.openxmlformats.org/officeDocument/2006/relationships/notesSlide" Target="/ppt/notesSlides/notesSlide1.xml" Id="R2d09154db20043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fb38667024ba2" /><Relationship Type="http://schemas.openxmlformats.org/officeDocument/2006/relationships/notesSlide" Target="/ppt/notesSlides/notesSlide2.xml" Id="R9218e3cb9aee48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ba741b0854067" /><Relationship Type="http://schemas.openxmlformats.org/officeDocument/2006/relationships/notesSlide" Target="/ppt/notesSlides/notesSlide3.xml" Id="R24b54d35e865492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37c8af4844984" /><Relationship Type="http://schemas.openxmlformats.org/officeDocument/2006/relationships/notesSlide" Target="/ppt/notesSlides/notesSlide4.xml" Id="Rdecf8a63528a47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9efab52854b07" /><Relationship Type="http://schemas.openxmlformats.org/officeDocument/2006/relationships/notesSlide" Target="/ppt/notesSlides/notesSlide5.xml" Id="Rcf27823e397949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8a6eb15204272" /><Relationship Type="http://schemas.openxmlformats.org/officeDocument/2006/relationships/notesSlide" Target="/ppt/notesSlides/notesSlide6.xml" Id="R315176e0adfd49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9e906dd9a4296" /><Relationship Type="http://schemas.openxmlformats.org/officeDocument/2006/relationships/chart" Target="/ppt/slides/charts/chart1.xml" Id="R529c20d336384826" /><Relationship Type="http://schemas.openxmlformats.org/officeDocument/2006/relationships/notesSlide" Target="/ppt/notesSlides/notesSlide7.xml" Id="R5b41ca96ef9b4a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ad476d3d384f07" /><Relationship Type="http://schemas.openxmlformats.org/officeDocument/2006/relationships/notesSlide" Target="/ppt/notesSlides/notesSlide8.xml" Id="R2a80983bb6fa49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c092e3e834638" /><Relationship Type="http://schemas.openxmlformats.org/officeDocument/2006/relationships/notesSlide" Target="/ppt/notesSlides/notesSlide9.xml" Id="R146ae8576b7046a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fb16b962541c8" /><Relationship Type="http://schemas.openxmlformats.org/officeDocument/2006/relationships/notesSlide" Target="/ppt/notesSlides/notesSlide10.xml" Id="R03f303d26d6a49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4828003cb4d21" /><Relationship Type="http://schemas.openxmlformats.org/officeDocument/2006/relationships/notesSlide" Target="/ppt/notesSlides/notesSlide11.xml" Id="R3f3a773e8f8b4d0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阶段一</c:v>
              </c:pt>
              <c:pt idx="1">
                <c:v>阶段二</c:v>
              </c:pt>
              <c:pt idx="2">
                <c:v>阶段三</c:v>
              </c:pt>
            </c:strLit>
          </c:cat>
          <c:val>
            <c:numLit>
              <c:formatCode>General</c:formatCode>
              <c:ptCount val="3"/>
              <c:pt idx="0">
                <c:v>85</c:v>
              </c:pt>
              <c:pt idx="1">
                <c:v>70</c:v>
              </c:pt>
              <c:pt idx="2">
                <c:v>35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89723-E0E1-4E31-AA8A-C166E60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7AB8D-B29E-40EE-BDB2-99BC4D2E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04850"/>
            <a:ext cx="8001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3E4BA-035B-4FBB-91A5-4774A422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3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59E0B"/>
                </a:solidFill>
              </a:defRPr>
            </a:pPr>
            <a:r>
              <a:rPr sz="1950" b="1">
                <a:solidFill>
                  <a:srgbClr val="F59E0B"/>
                </a:solidFill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69D2D-C74C-4D36-90CB-34E7144C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621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300" b="1">
                <a:solidFill>
                  <a:srgbClr val="0F172A"/>
                </a:solidFill>
              </a:defRPr>
            </a:pPr>
            <a:r>
              <a:rPr sz="3300" b="1">
                <a:solidFill>
                  <a:srgbClr val="0F172A"/>
                </a:solidFill>
              </a:rPr>
              <a:t>中文开源AI模型社区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FF05B-C67A-498F-803B-D03FC103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75569"/>
                </a:solidFill>
              </a:defRPr>
            </a:pPr>
            <a:r>
              <a:rPr sz="1800" b="0">
                <a:solidFill>
                  <a:srgbClr val="475569"/>
                </a:solidFill>
              </a:rPr>
              <a:t>面向中文模型生态的模型托管、数据集、Demo、评测与智能助手平台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4FF55C-1E75-4954-A788-CAE78154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386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课程项目汇报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577E4-B297-44F6-8332-2D069EDA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2026-06-16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BCC9E-6341-428E-A40E-650CD443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1455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ECFA5-DDD2-4D1E-A24C-7578D0C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286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模型托管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A30AA-E368-4A7A-BC40-379F57B8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Qwen2.5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4250E9-64A7-4485-A29C-4506B544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1455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992B3-5316-4502-90BB-137C77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86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数据集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B4C21-27C8-493C-B9AB-E2B0898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717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C-Eval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1F03B-C7ED-4FCD-A130-D2B4373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C5685C-A9C1-4C6D-BC43-FB2B6F31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86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BDED8-5A2A-4CAD-96C1-9F15ABFA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719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本地推理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F0951-5989-4B60-A9D8-494B7B5B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14700"/>
            <a:ext cx="1581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D8E3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6B372-D38D-4F16-9045-21E1C600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861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助手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59BB1-3012-444B-A18B-8DF5A632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77190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RAG + 搜索</a:t>
            </a:r>
          </a:p>
        </p:txBody>
      </p:sp>
    </p:spTree>
    <p:extLst>
      <p:ext uri="{BB962C8B-B14F-4D97-AF65-F5344CB8AC3E}">
        <p14:creationId xmlns:p14="http://schemas.microsoft.com/office/powerpoint/2010/main" val="1332142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F1ECC-DF0A-4E07-B43D-403D0121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01 / 项目定位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72D56-99EA-488E-92D5-D50D222B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8939B-EB8C-4AA3-A574-746A0EB9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为什么做中文开源AI模型社区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835F8-17B9-4C6A-9878-88C413DA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14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EEFB8-FA0B-4803-A958-3F19975A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38300"/>
            <a:ext cx="821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中文模型资源越来越多，但演示、评测、检索和实验追踪分散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E975-60ED-45BB-AB98-13B19EA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CDC8F7-1D3D-48D8-9F71-79A8D0C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821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课程项目需要能展示“上传 -&gt; Demo -&gt; 评测 -&gt; 排名”的闭环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90825-9EAA-4B7B-8605-A7EFA9F0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66BAE-D946-4BC2-BF6E-9BFDCAF6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821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平台面向中文模型、中文数据集和中文评测，降低课堂展示门槛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A69AA-7CFC-440C-9659-C7773386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30099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59CE51-719E-4046-8D0A-C8D6B0EA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243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核心主线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7495C-85CD-492A-9BD6-2A025673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240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Qwen2.5 模型卡片 -&gt; Space Demo -&gt; C-Eval 快速评测 -&gt; 排行榜 -&gt; 智能助手</a:t>
            </a:r>
          </a:p>
        </p:txBody>
      </p:sp>
    </p:spTree>
    <p:extLst>
      <p:ext uri="{BB962C8B-B14F-4D97-AF65-F5344CB8AC3E}">
        <p14:creationId xmlns:p14="http://schemas.microsoft.com/office/powerpoint/2010/main" val="19592843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9B4FC-FA88-4928-8C59-796BA07E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02 / 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8A806-AA3F-4924-BBA7-DCE703DA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C62CB-8F40-454B-AFAB-CDD90F7B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前端、后端、存储、搜索和 MLOps 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E09B9-A058-42B2-8963-22A9C523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0B96ED-EACD-40F8-973F-ED6617D1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240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Vue 前台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65526D-ABB0-4C24-AE0A-FE4E63CC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8192-BE13-42EA-86A5-CC40EF86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管理后台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1773C-483A-4B38-98B1-6C08073F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62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45FD2-D157-492B-9CEC-D18535E8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FastAPI 后端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69F26-C22D-495D-87F7-1F77863B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097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E1606-87AC-4612-B436-0458E437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38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PostgreSQL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A1581-FBE6-49D0-A8CD-316427A0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324FF-1CC3-4944-A94B-408BB623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90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MinIO/S3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8F8D1A-D934-4D18-A133-B51C95BF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3147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9F5CE-6350-4CE6-80F0-234B170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433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LakeFS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249BEC-EFEA-4CBF-810D-A4CF5C9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67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A7A79-FBCD-4801-A8C7-60C69F14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Meilisearch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3CBE2-CCC9-4295-B836-4557C346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62200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D9C73-8F16-4709-B0BE-F247A67E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90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MLflow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C95B6-B83A-4093-B730-6E6C5F3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004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统一 API</a:t>
            </a:r>
          </a:p>
        </p:txBody>
      </p:sp>
    </p:spTree>
    <p:extLst>
      <p:ext uri="{BB962C8B-B14F-4D97-AF65-F5344CB8AC3E}">
        <p14:creationId xmlns:p14="http://schemas.microsoft.com/office/powerpoint/2010/main" val="1583669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776A4-7E16-4AF2-A2F6-9E5A49F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03 / 核心功能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586F6-C8E3-4769-9454-E88E3E44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8F27C-1654-4EF9-9420-F64F3DC2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当前已完成的功能面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CDA53-78B6-4868-B46F-E5953910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B129BC-628E-4461-B05D-2D522D99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模型托管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4CFDE-0DC0-4FB4-8481-CA70DD92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模型仓库、README 模型卡片、文件树、上传下载和提交记录。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50586-FC25-48C0-84C1-3F9F0C1A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58961-A1D6-45C1-AADE-33E277B2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数据集管理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D596C4-D8FF-486C-ACCB-809EAEC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C-Eval 数据集、README、文件展示和结构化数据预览。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E71BB-37DB-40DE-97F8-1F728396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81DC4-1803-4BD0-8B60-F8601C19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Space 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47CE6-F801-428C-BB9D-A678A3CF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展示已创建 Demo，从空间页进入在线演示界面。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E6789-74C0-4988-9268-3BACA73D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B45CA-5463-4AA1-9BFB-3BC19C8A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中文搜索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B345D-CD9B-45A0-8AD9-1E3ECE93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Meilisearch 索引仓库、标签、README 和中文模型元数据。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8EE1D-25CC-4A75-AD4F-FA7C87D1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94DA3-9F97-4EDE-8390-4B7B1DC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快速评测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13561-032D-453C-9AA2-1F7DBAA6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Qwen2.5 类型模型使用 C-Eval 20 题评测并进入排行榜。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FC5481-7803-4057-BEB6-0AF15A3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1BD0EA-183C-40B2-A0A3-3767ACE3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智能助手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6317DA-104C-435D-A438-DE30384E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RAG 平台问答 + 搜索接口调用 + DeepSeek 答案整理。</a:t>
            </a:r>
          </a:p>
        </p:txBody>
      </p:sp>
    </p:spTree>
    <p:extLst>
      <p:ext uri="{BB962C8B-B14F-4D97-AF65-F5344CB8AC3E}">
        <p14:creationId xmlns:p14="http://schemas.microsoft.com/office/powerpoint/2010/main" val="1046708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8B402D-EB2D-455B-86DE-A8704907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04 / 演示流程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A6513-7765-4089-B09B-8C6D2920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5A3B1-85D5-4B30-9570-053DFAA6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课堂演示主线：一条链路讲清平台价值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D639A-0C97-469B-858B-F6FE45C4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970B5-5DD6-4D2F-B81E-CCFA5209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1B688-3979-4BCB-9154-DEEC1216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登录平台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B840F-7C36-4210-8843-CACF4EDA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1104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mai_lin / CnModelHub123!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35B26-1913-4B72-9461-417BF3E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07BEC-AD46-4FCD-94C7-53B2A4EE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D9890-61F3-4A92-86CF-46BE28DE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查看模型卡片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9364D-DE20-4152-B209-56D23CD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57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Qwen2.5-0.5B-Instruct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9E9512-110D-4703-9B26-FE6D0457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45D9D-E6A1-4726-AAEA-917C70E9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D9E4C-A5E4-43FE-903F-0B20D5A8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进入 Space Demo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22BE2-3470-4153-850D-6C3E34A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57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本地模型在线对话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6FB2E-ED37-4DCE-9E31-7B51A250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B7BB7A-8EAC-499C-B459-614FD829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020FB-6546-4A05-A1AD-92E93A9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快速评测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8C86E-3CB5-4949-8ABD-806EB0FB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57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C-Eval 20 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E79602-DF22-4E0D-BCC6-6A0CBFB7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E89738-6BFD-44E7-8A40-14B419AC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99731-6CB3-4BFE-BF9B-E81CF2AF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排行榜展示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DC2CE-6DC5-493E-8B30-6F0C6325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57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生成式大语言模型前十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2EAE1-4BE0-4E25-9ED9-3178F389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095500"/>
            <a:ext cx="1428750" cy="1714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91A911-F9C0-419E-BA66-52675168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26695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766E"/>
                </a:solidFill>
              </a:defRPr>
            </a:pPr>
            <a:r>
              <a:rPr sz="2550" b="1">
                <a:solidFill>
                  <a:srgbClr val="0F766E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C60313-9245-494A-973C-E981616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智能助手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9EBAD6-8565-421B-800E-ADC21210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575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75569"/>
                </a:solidFill>
              </a:defRPr>
            </a:pPr>
            <a:r>
              <a:rPr sz="1050" b="0">
                <a:solidFill>
                  <a:srgbClr val="475569"/>
                </a:solidFill>
              </a:rPr>
              <a:t>解释平台并查找资源</a:t>
            </a:r>
          </a:p>
        </p:txBody>
      </p:sp>
    </p:spTree>
    <p:extLst>
      <p:ext uri="{BB962C8B-B14F-4D97-AF65-F5344CB8AC3E}">
        <p14:creationId xmlns:p14="http://schemas.microsoft.com/office/powerpoint/2010/main" val="7000183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63CF0-9A62-4832-A282-54B5DE4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05 / 本地模型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C25B3-9774-4E2D-AF27-C24A5075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DFC9D-B8B1-477D-B14A-8E64DFF0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Qwen2.5-0.5B-Instruct 跑的是本地模型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D9DA8-E411-412B-8203-BE05CE8D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095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54E40-4ADD-4EBA-B82B-239CE5D1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模型仓库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85A67-43D5-4134-B7DF-ED86A86C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config.json</a:t>
            </a:r>
          </a:p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tokenizer.json</a:t>
            </a:r>
          </a:p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model.safetensors</a:t>
            </a:r>
          </a:p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README.md / app.py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85676-572E-4223-A059-4EEE76F3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657350"/>
            <a:ext cx="4953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550DD-54D3-4554-B972-D13F7C5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002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运行方式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6C480E-51DA-4889-83D9-1AC22E2F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71750"/>
            <a:ext cx="4000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平台同步仓库文件 -&gt; 设置 LOCAL_MODEL_PATH -&gt; Transformers local_files_only 加载 -&gt; Gradio 对话界面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F9463-9725-4DC5-B12C-FBF702E1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结论：用户点开的 Demo 体验的是平台托管的本地模型，不是外部模型 API。</a:t>
            </a:r>
          </a:p>
        </p:txBody>
      </p:sp>
    </p:spTree>
    <p:extLst>
      <p:ext uri="{BB962C8B-B14F-4D97-AF65-F5344CB8AC3E}">
        <p14:creationId xmlns:p14="http://schemas.microsoft.com/office/powerpoint/2010/main" val="907748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8173D2-5E03-4FA8-8D9D-24CE91F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06 / 评测与榜单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9D7A08-937A-437B-88C7-64460A41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A1792-FC6E-4149-913F-B74C920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C-Eval 20 题快速评测形成排行榜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1047750" y="1809750"/>
          <a:ext xmlns:a="http://schemas.openxmlformats.org/drawingml/2006/main" cx="4572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9c20d336384826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0DDC2-21A9-45D4-875D-0FEFC5D3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0005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54CAD-6902-4D9E-809D-68C72AC2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排名标准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57D6F-F13F-4334-AEE5-340E2DAE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B67FB-537E-4E44-A281-C55A47C2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717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抽样 20 道 C-Eval 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C126E-777B-47B5-BAF9-E2DBAF5F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AB742-2DBD-42D4-92C1-3C2CA5D6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记录正确数和准确率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262F9-76C1-46C0-8B08-8AF3C44C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8B4C2-61D2-47FB-AFF8-846FEB77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0045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准确率从高到低排序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917D9-6460-48B5-A7DD-F7FE664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E94DE-9F13-419F-8F9B-B79053172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2686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首页展示前十名</a:t>
            </a:r>
          </a:p>
        </p:txBody>
      </p:sp>
    </p:spTree>
    <p:extLst>
      <p:ext uri="{BB962C8B-B14F-4D97-AF65-F5344CB8AC3E}">
        <p14:creationId xmlns:p14="http://schemas.microsoft.com/office/powerpoint/2010/main" val="20015267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4EA25F-CA30-44F8-AFEC-924AD8A8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07 / 搜索与智能助手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150B4-8336-44A5-9569-CA405C4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BF0F-E13F-48F7-B7B3-F5EA6346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0F172A"/>
                </a:solidFill>
              </a:defRPr>
            </a:pPr>
            <a:r>
              <a:rPr sz="2400" b="1">
                <a:solidFill>
                  <a:srgbClr val="0F172A"/>
                </a:solidFill>
              </a:rPr>
              <a:t>助手只索引平台中文知识库，并能调用站内搜索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B33948-DCE5-4D4B-92F9-B20C9C45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90D3E-1249-42EA-A7C4-9B01209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用户问题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A3286-C319-4327-B2BE-7F7EEB08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0122C8-B5E0-4276-A0C0-F43A8F1F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88521-C199-48B8-82D6-9BC9257B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57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意图判断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214A3-F3BD-499C-9470-2C37AFB2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38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853728-E422-4A6F-AF30-A3F7B6A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4138D9-309C-4277-AB8C-AAA81C3C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9E0B"/>
                </a:solidFill>
              </a:defRPr>
            </a:pPr>
            <a:r>
              <a:rPr sz="1350" b="1">
                <a:solidFill>
                  <a:srgbClr val="F59E0B"/>
                </a:solidFill>
              </a:rPr>
              <a:t>RAG / 搜索接口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0E690-6055-425E-A41B-67948385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38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677CD-5CC6-4DDD-8ED3-2E648B54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C57A0D-B0C1-4080-840D-F38E9474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57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7C3AED"/>
                </a:solidFill>
              </a:defRPr>
            </a:pPr>
            <a:r>
              <a:rPr sz="1350" b="1">
                <a:solidFill>
                  <a:srgbClr val="7C3AED"/>
                </a:solidFill>
              </a:rPr>
              <a:t>DeepSeek 整理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C4F62-3962-4C48-A605-C08DBBA4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384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475569"/>
                </a:solidFill>
              </a:defRPr>
            </a:pPr>
            <a:r>
              <a:rPr sz="1650" b="1">
                <a:solidFill>
                  <a:srgbClr val="475569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2CCB4-D2D0-4AB1-8B64-0113AC14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6764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BBA48-5A7E-444C-A419-68C01505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45745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6A34A"/>
                </a:solidFill>
              </a:defRPr>
            </a:pPr>
            <a:r>
              <a:rPr sz="1350" b="1">
                <a:solidFill>
                  <a:srgbClr val="16A34A"/>
                </a:solidFill>
              </a:rPr>
              <a:t>答案 + 来源 + 链接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0B81E9-72C9-4F91-A683-0F447A25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知识库目录：docs/platform-knowledge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B9537-97AB-4F91-A887-2936C9F8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搜索后端：Meilisearch，失败时数据库兜底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4ED62-91BC-43A0-8B06-D9C2290B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76800"/>
            <a:ext cx="914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475569"/>
                </a:solidFill>
              </a:defRPr>
            </a:pPr>
            <a:r>
              <a:rPr sz="1500" b="0">
                <a:solidFill>
                  <a:srgbClr val="475569"/>
                </a:solidFill>
              </a:rPr>
              <a:t>已验证：问题“Space Demo 怎么用？帮我找 Qwen2.5 模型”返回真实模型链接和知识库来源。</a:t>
            </a:r>
          </a:p>
        </p:txBody>
      </p:sp>
    </p:spTree>
    <p:extLst>
      <p:ext uri="{BB962C8B-B14F-4D97-AF65-F5344CB8AC3E}">
        <p14:creationId xmlns:p14="http://schemas.microsoft.com/office/powerpoint/2010/main" val="1133882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7A2A8D-11B1-448A-98A3-F1AC3440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08 / 本次规范化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CBE1-7E9D-47A0-9108-6D5221D8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D1E31-2F28-41F2-BCAA-A6257D18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从上游模板整理成 cn_model_hub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12D83-4E6C-4EB7-9EA2-27B0DEFC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A6DFC-51E8-48B7-A1AA-DC833B92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命名统一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D88C7-EA12-4A06-A4AB-54BC04CB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src/cn_model_hub、cn-model-hub-ui、cn-model-hub-admin。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C1E7E-DCD5-435F-ACC2-30122C79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8C7B7-022E-4E43-9219-3E09E5E8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文档精简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6B25F8-4210-41AC-A17D-CE8E7B02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删除旧页面和旧 public 文档，保留平台知识库和演示 examples。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2D6AD-5876-47FA-B7EE-CDF30A82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EE739-227E-4C49-8DA6-C52C6E8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050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README 重写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9BEF2-7D88-4DBA-97B6-B0F6750A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写清项目结构、功能、部署、账号、进度和下一步。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7B5ED-CA39-4527-9124-561F8754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1757B-96BC-4B61-9978-95B0A03F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7C3AED"/>
                </a:solidFill>
              </a:defRPr>
            </a:pPr>
            <a:r>
              <a:rPr sz="1500" b="1">
                <a:solidFill>
                  <a:srgbClr val="7C3AED"/>
                </a:solidFill>
              </a:rPr>
              <a:t>知识库独立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65A59-EA35-4C91-8ECA-1664ED8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助手只索引 docs/platform-knowledge，避免回答旧平台内容。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657060-75C3-4EA8-B683-B8DC16DD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6A189-9446-47C6-BAEE-09E49155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6A34A"/>
                </a:solidFill>
              </a:defRPr>
            </a:pPr>
            <a:r>
              <a:rPr sz="1500" b="1">
                <a:solidFill>
                  <a:srgbClr val="16A34A"/>
                </a:solidFill>
              </a:rPr>
              <a:t>图标更新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17C856-A048-4388-9385-D7D622B8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站点 favicon、banner 和后台图标已替换。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DE84F0-6209-4A96-AA63-F241DBCF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32385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EA0BAB-9169-43BA-AF77-2EEAFCB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290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本地验证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3A78C-2924-44F3-BACC-E7DC9063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29100"/>
            <a:ext cx="2781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75569"/>
                </a:solidFill>
              </a:defRPr>
            </a:pPr>
            <a:r>
              <a:rPr sz="1200" b="0">
                <a:solidFill>
                  <a:srgbClr val="475569"/>
                </a:solidFill>
              </a:rPr>
              <a:t>构建、启动、登录、助手、浏览器页面检查均通过。</a:t>
            </a:r>
          </a:p>
        </p:txBody>
      </p:sp>
    </p:spTree>
    <p:extLst>
      <p:ext uri="{BB962C8B-B14F-4D97-AF65-F5344CB8AC3E}">
        <p14:creationId xmlns:p14="http://schemas.microsoft.com/office/powerpoint/2010/main" val="16059176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73547-383F-4D9D-80E8-48F3FDF3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09 / 下一步计划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BED0A-4EF0-4E7C-A068-69E5EA32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中文开源AI模型社区 / cn_model_hub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2CE051-C80E-4AB4-943D-AEB1B5D3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后续迭代重点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18741F-D545-41CF-A183-C6B4BC6F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D4F49-C0EF-47BF-BD3A-767016F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897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做一键演示脚本：上传 Qwen2.5 -&gt; Demo -&gt; 评测 -&gt; 榜单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C8CC0-141A-493D-98B9-F5083139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4ED20-C3CA-40DE-8DD9-198A675D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09800"/>
            <a:ext cx="897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增强上传校验：Transformers 文件完整性和模型类型识别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E4B1F-0719-4A12-A798-5456F2B4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15388-1D6C-4539-824C-4B02E789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897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完善 Space 运行时：日志、停止/重启、资源限制和环境变量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2689A-7C85-427C-8F08-433C0E78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DC268-399B-4E5C-A735-956B5E43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38500"/>
            <a:ext cx="897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扩展评测：完整 C-Eval、分科目榜单、异步任务队列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A0994-18E8-4E52-9064-95D2002C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3CC128-54FB-4023-8100-824D78EA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8972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0F172A"/>
                </a:solidFill>
              </a:defRPr>
            </a:pPr>
            <a:r>
              <a:rPr sz="1575" b="0">
                <a:solidFill>
                  <a:srgbClr val="0F172A"/>
                </a:solidFill>
              </a:rPr>
              <a:t>让 MLflow 自动记录每次评测的参数、指标和 artifact</a:t>
            </a:r>
          </a:p>
        </p:txBody>
      </p:sp>
    </p:spTree>
    <p:extLst>
      <p:ext uri="{BB962C8B-B14F-4D97-AF65-F5344CB8AC3E}">
        <p14:creationId xmlns:p14="http://schemas.microsoft.com/office/powerpoint/2010/main" val="762495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C7EC33-6FBE-43D9-9633-868051A0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"/>
            <a:ext cx="10363200" cy="4953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4064F-4F93-461B-8E8B-5E1D641D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438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课堂展示结论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CA082-20D2-4F39-8F93-4D348D3E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8477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75569"/>
                </a:solidFill>
              </a:defRPr>
            </a:pPr>
            <a:r>
              <a:rPr sz="1875" b="0">
                <a:solidFill>
                  <a:srgbClr val="475569"/>
                </a:solidFill>
              </a:rPr>
              <a:t>cn_model_hub 已具备中文模型社区的核心演示闭环：模型托管、数据集、Space Demo、本地推理、中文搜索、快速评测、排行榜、MLflow 和智能助手。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3AE973-7347-4665-92A9-36AFF3B3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563EB"/>
                </a:solidFill>
              </a:defRPr>
            </a:pPr>
            <a:r>
              <a:rPr sz="1950" b="1">
                <a:solidFill>
                  <a:srgbClr val="2563EB"/>
                </a:solidFill>
              </a:rPr>
              <a:t>推荐展示主线：Qwen2.5 模型卡片 -&gt; Space Demo -&gt; C-Eval 评测 -&gt; 排行榜 -&gt; 智能助手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E0D8F-922F-496A-86A5-0E9D9FA5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673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82126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2026-06-16T04:03:09.9430000Z</dcterms:created>
  <dcterms:modified xsi:type="dcterms:W3CDTF">2026-06-16T04:03:09.9430000Z</dcterms:modified>
</coreProperties>
</file>